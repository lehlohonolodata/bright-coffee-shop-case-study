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97EBE"/>
            </a:solidFill>
            <a:ln w="25400">
              <a:solidFill>
                <a:srgbClr val="197EBE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81677.74</c:v>
                </c:pt>
                <c:pt idx="1">
                  <c:v>76145.19</c:v>
                </c:pt>
                <c:pt idx="2">
                  <c:v>98834.68</c:v>
                </c:pt>
                <c:pt idx="3">
                  <c:v>118941.08</c:v>
                </c:pt>
                <c:pt idx="4">
                  <c:v>156727.76</c:v>
                </c:pt>
                <c:pt idx="5">
                  <c:v>166485.88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617180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$#,##0" sourceLinked="0"/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617180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97EBE"/>
            </a:solidFill>
            <a:ln w="25400">
              <a:solidFill>
                <a:srgbClr val="197EBE"/>
              </a:solidFill>
            </a:ln>
          </c:spPr>
          <c:cat>
            <c:strRef>
              <c:f>Sheet1!$A$2:$A$10</c:f>
              <c:strCache>
                <c:ptCount val="9"/>
                <c:pt idx="0">
                  <c:v>Coffee</c:v>
                </c:pt>
                <c:pt idx="1">
                  <c:v>Tea</c:v>
                </c:pt>
                <c:pt idx="2">
                  <c:v>Bakery</c:v>
                </c:pt>
                <c:pt idx="3">
                  <c:v>Drinking chocolate</c:v>
                </c:pt>
                <c:pt idx="4">
                  <c:v>Coffee beans</c:v>
                </c:pt>
                <c:pt idx="5">
                  <c:v>Branded</c:v>
                </c:pt>
                <c:pt idx="6">
                  <c:v>Loose tea</c:v>
                </c:pt>
                <c:pt idx="7">
                  <c:v>Flavours</c:v>
                </c:pt>
                <c:pt idx="8">
                  <c:v>Packaged chocolate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269952.45</c:v>
                </c:pt>
                <c:pt idx="1">
                  <c:v>196405.95</c:v>
                </c:pt>
                <c:pt idx="2">
                  <c:v>82315.64</c:v>
                </c:pt>
                <c:pt idx="3">
                  <c:v>72416</c:v>
                </c:pt>
                <c:pt idx="4">
                  <c:v>40085.25</c:v>
                </c:pt>
                <c:pt idx="5">
                  <c:v>13607</c:v>
                </c:pt>
                <c:pt idx="6">
                  <c:v>11213.6</c:v>
                </c:pt>
                <c:pt idx="7">
                  <c:v>8408.8</c:v>
                </c:pt>
                <c:pt idx="8">
                  <c:v>4407.64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61718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numFmt formatCode="$#,##0" sourceLinked="0"/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61718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97EBE"/>
            </a:solidFill>
            <a:ln w="25400">
              <a:solidFill>
                <a:srgbClr val="197EBE"/>
              </a:solidFill>
            </a:ln>
          </c:spPr>
          <c:cat>
            <c:strRef>
              <c:f>Sheet1!$A$2:$A$11</c:f>
              <c:strCache>
                <c:ptCount val="10"/>
                <c:pt idx="0">
                  <c:v>Barista Espresso</c:v>
                </c:pt>
                <c:pt idx="1">
                  <c:v>Brewed Chai Tea</c:v>
                </c:pt>
                <c:pt idx="2">
                  <c:v>Hot Chocolate</c:v>
                </c:pt>
                <c:pt idx="3">
                  <c:v>Gourmet Brewed Coffee</c:v>
                </c:pt>
                <c:pt idx="4">
                  <c:v>Brewed Black Tea</c:v>
                </c:pt>
                <c:pt idx="5">
                  <c:v>Brewed Herbal Tea</c:v>
                </c:pt>
                <c:pt idx="6">
                  <c:v>Premium Brewed Coffee</c:v>
                </c:pt>
                <c:pt idx="7">
                  <c:v>Organic Brewed Coffee</c:v>
                </c:pt>
                <c:pt idx="8">
                  <c:v>Scone</c:v>
                </c:pt>
                <c:pt idx="9">
                  <c:v>Drip Coffee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91406.2</c:v>
                </c:pt>
                <c:pt idx="1">
                  <c:v>77081.95</c:v>
                </c:pt>
                <c:pt idx="2">
                  <c:v>72416</c:v>
                </c:pt>
                <c:pt idx="3">
                  <c:v>70034.6</c:v>
                </c:pt>
                <c:pt idx="4">
                  <c:v>47932</c:v>
                </c:pt>
                <c:pt idx="5">
                  <c:v>47539.5</c:v>
                </c:pt>
                <c:pt idx="6">
                  <c:v>38781.15</c:v>
                </c:pt>
                <c:pt idx="7">
                  <c:v>37746.5</c:v>
                </c:pt>
                <c:pt idx="8">
                  <c:v>36866.12</c:v>
                </c:pt>
                <c:pt idx="9">
                  <c:v>31984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61718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numFmt formatCode="$#,##0" sourceLinked="0"/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61718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97EBE"/>
            </a:solidFill>
            <a:ln w="25400">
              <a:solidFill>
                <a:srgbClr val="197EBE"/>
              </a:solidFill>
            </a:ln>
          </c:spPr>
          <c:cat>
            <c:strRef>
              <c:f>Sheet1!$A$2:$A$11</c:f>
              <c:strCache>
                <c:ptCount val="10"/>
                <c:pt idx="0">
                  <c:v>Espresso Beans</c:v>
                </c:pt>
                <c:pt idx="1">
                  <c:v>Chai Tea</c:v>
                </c:pt>
                <c:pt idx="2">
                  <c:v>House Blend Beans</c:v>
                </c:pt>
                <c:pt idx="3">
                  <c:v>Herbal Tea</c:v>
                </c:pt>
                <c:pt idx="4">
                  <c:v>Drinking Chocolate</c:v>
                </c:pt>
                <c:pt idx="5">
                  <c:v>Black Tea</c:v>
                </c:pt>
                <c:pt idx="6">
                  <c:v>Sugar Free Syrup</c:v>
                </c:pt>
                <c:pt idx="7">
                  <c:v>Organic Chocolate</c:v>
                </c:pt>
                <c:pt idx="8">
                  <c:v>Green Tea</c:v>
                </c:pt>
                <c:pt idx="9">
                  <c:v>Green Beans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5560.25</c:v>
                </c:pt>
                <c:pt idx="1">
                  <c:v>4301.25</c:v>
                </c:pt>
                <c:pt idx="2">
                  <c:v>3294</c:v>
                </c:pt>
                <c:pt idx="3">
                  <c:v>2729.75</c:v>
                </c:pt>
                <c:pt idx="4">
                  <c:v>2728.04</c:v>
                </c:pt>
                <c:pt idx="5">
                  <c:v>2711.85</c:v>
                </c:pt>
                <c:pt idx="6">
                  <c:v>2324</c:v>
                </c:pt>
                <c:pt idx="7">
                  <c:v>1679.6</c:v>
                </c:pt>
                <c:pt idx="8">
                  <c:v>1470.75</c:v>
                </c:pt>
                <c:pt idx="9">
                  <c:v>1340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61718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numFmt formatCode="$#,##0" sourceLinked="0"/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61718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97EBE"/>
            </a:solidFill>
            <a:ln w="25400">
              <a:solidFill>
                <a:srgbClr val="197EBE"/>
              </a:solidFill>
            </a:ln>
          </c:spPr>
          <c:cat>
            <c:strRef>
              <c:f>Sheet1!$A$2:$A$4</c:f>
              <c:strCache>
                <c:ptCount val="3"/>
                <c:pt idx="0">
                  <c:v>Hell's Kitchen</c:v>
                </c:pt>
                <c:pt idx="1">
                  <c:v>Astoria</c:v>
                </c:pt>
                <c:pt idx="2">
                  <c:v>Lower Manhattan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236511.17</c:v>
                </c:pt>
                <c:pt idx="1">
                  <c:v>232243.91</c:v>
                </c:pt>
                <c:pt idx="2">
                  <c:v>230057.25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61718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numFmt formatCode="$#,##0" sourceLinked="0"/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61718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97EBE"/>
            </a:solidFill>
            <a:ln w="25400">
              <a:solidFill>
                <a:srgbClr val="197EBE"/>
              </a:solidFill>
            </a:ln>
          </c:spPr>
          <c:cat>
            <c:strRef>
              <c:f>Sheet1!$A$2:$A$6</c:f>
              <c:strCache>
                <c:ptCount val="5"/>
                <c:pt idx="0">
                  <c:v>06:00–08:59</c:v>
                </c:pt>
                <c:pt idx="1">
                  <c:v>09:00–11:59</c:v>
                </c:pt>
                <c:pt idx="2">
                  <c:v>12:00–14:59</c:v>
                </c:pt>
                <c:pt idx="3">
                  <c:v>15:00–17:59</c:v>
                </c:pt>
                <c:pt idx="4">
                  <c:v>18:00–20:59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168126.61</c:v>
                </c:pt>
                <c:pt idx="1">
                  <c:v>220162.06</c:v>
                </c:pt>
                <c:pt idx="2">
                  <c:v>121864.98</c:v>
                </c:pt>
                <c:pt idx="3">
                  <c:v>122990.16</c:v>
                </c:pt>
                <c:pt idx="4">
                  <c:v>65668.52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61718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$#,##0" sourceLinked="0"/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61718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97EBE"/>
            </a:solidFill>
            <a:ln w="25400">
              <a:solidFill>
                <a:srgbClr val="197EBE"/>
              </a:solidFill>
            </a:ln>
          </c:spPr>
          <c:cat>
            <c:strRef>
              <c:f>Sheet1!$A$2:$A$3</c:f>
              <c:strCache>
                <c:ptCount val="2"/>
                <c:pt idx="0">
                  <c:v>Weekday total</c:v>
                </c:pt>
                <c:pt idx="1">
                  <c:v>Weekend total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503600</c:v>
                </c:pt>
                <c:pt idx="1">
                  <c:v>195200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61718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$#,##0" sourceLinked="0"/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61718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F9123"/>
          </a:solidFill>
          <a:ln>
            <a:solidFill>
              <a:srgbClr val="EF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38160" y="137160"/>
            <a:ext cx="4053535" cy="6720840"/>
          </a:xfrm>
          <a:prstGeom prst="rect">
            <a:avLst/>
          </a:prstGeom>
          <a:solidFill>
            <a:srgbClr val="173F63"/>
          </a:solidFill>
          <a:ln>
            <a:solidFill>
              <a:srgbClr val="173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9118854" y="2222906"/>
            <a:ext cx="2055114" cy="556869"/>
          </a:xfrm>
          <a:prstGeom prst="arc">
            <a:avLst/>
          </a:prstGeom>
          <a:solidFill>
            <a:srgbClr val="FAF7F1"/>
          </a:solidFill>
          <a:ln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rapezoid 4"/>
          <p:cNvSpPr/>
          <p:nvPr/>
        </p:nvSpPr>
        <p:spPr>
          <a:xfrm>
            <a:off x="9344253" y="1652778"/>
            <a:ext cx="1458468" cy="954633"/>
          </a:xfrm>
          <a:prstGeom prst="trapezoid">
            <a:avLst/>
          </a:prstGeom>
          <a:solidFill>
            <a:srgbClr val="FFFFFF"/>
          </a:solidFill>
          <a:ln w="25400"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84510" y="1825142"/>
            <a:ext cx="689457" cy="556869"/>
          </a:xfrm>
          <a:prstGeom prst="ellipse">
            <a:avLst/>
          </a:prstGeom>
          <a:solidFill>
            <a:srgbClr val="FAF7F1"/>
          </a:solidFill>
          <a:ln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17098" y="1931212"/>
            <a:ext cx="397764" cy="331470"/>
          </a:xfrm>
          <a:prstGeom prst="ellipse">
            <a:avLst/>
          </a:prstGeom>
          <a:solidFill>
            <a:srgbClr val="173F63"/>
          </a:solidFill>
          <a:ln>
            <a:solidFill>
              <a:srgbClr val="173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404957" y="1851660"/>
            <a:ext cx="265176" cy="37124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rc 8"/>
          <p:cNvSpPr/>
          <p:nvPr/>
        </p:nvSpPr>
        <p:spPr>
          <a:xfrm>
            <a:off x="9688982" y="1215237"/>
            <a:ext cx="291693" cy="371246"/>
          </a:xfrm>
          <a:prstGeom prst="arc">
            <a:avLst/>
          </a:prstGeom>
          <a:solidFill>
            <a:srgbClr val="FAF7F1"/>
          </a:solidFill>
          <a:ln w="25400"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9954158" y="1281531"/>
            <a:ext cx="291693" cy="503834"/>
          </a:xfrm>
          <a:prstGeom prst="arc">
            <a:avLst/>
          </a:prstGeom>
          <a:solidFill>
            <a:srgbClr val="FAF7F1"/>
          </a:solidFill>
          <a:ln w="25400"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219334" y="1215237"/>
            <a:ext cx="291693" cy="331470"/>
          </a:xfrm>
          <a:prstGeom prst="arc">
            <a:avLst/>
          </a:prstGeom>
          <a:solidFill>
            <a:srgbClr val="FAF7F1"/>
          </a:solidFill>
          <a:ln w="25400"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713232"/>
            <a:ext cx="6858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B84B"/>
                </a:solidFill>
                <a:latin typeface="Aptos"/>
              </a:rPr>
              <a:t>BRIGHT COFFEE SHOP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325880"/>
            <a:ext cx="713232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ptos"/>
              </a:rPr>
              <a:t>Sales Performance
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971800"/>
            <a:ext cx="662940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DEEAF2"/>
                </a:solidFill>
                <a:latin typeface="Aptos"/>
              </a:rPr>
              <a:t>Turning six months of transaction data into a practical revenue-growth plan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3913632"/>
            <a:ext cx="960120" cy="54864"/>
          </a:xfrm>
          <a:prstGeom prst="rect">
            <a:avLst/>
          </a:prstGeom>
          <a:solidFill>
            <a:srgbClr val="EF9123"/>
          </a:solidFill>
          <a:ln>
            <a:solidFill>
              <a:srgbClr val="EF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251960"/>
            <a:ext cx="6309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Prepared for: Bright Coffee Shop CEO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590288"/>
            <a:ext cx="6309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ptos"/>
              </a:rPr>
              <a:t>Prepared by: Junior Data Analyst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937760"/>
            <a:ext cx="6858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CFDDE7"/>
                </a:solidFill>
                <a:latin typeface="Aptos"/>
              </a:rPr>
              <a:t>Data period: January – June 2023  •  3 New York store locations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72200"/>
            <a:ext cx="7315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2B84B"/>
                </a:solidFill>
                <a:latin typeface="Aptos"/>
              </a:rPr>
              <a:t>BRIGHTLEARN CASE STUDY  •  EXECUTIVE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CFDDE7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9123"/>
          </a:solidFill>
          <a:ln>
            <a:solidFill>
              <a:srgbClr val="EF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3035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59E7E"/>
                </a:solidFill>
                <a:latin typeface="Aptos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02B47"/>
                </a:solidFill>
                <a:latin typeface="Aptos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180"/>
                </a:solidFill>
                <a:latin typeface="Aptos"/>
              </a:rPr>
              <a:t>Six months of transactions reveal what sells, when demand peaks, and where targeted actions could lift revenue.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28816"/>
            <a:ext cx="11155680" cy="13716"/>
          </a:xfrm>
          <a:prstGeom prst="rect">
            <a:avLst/>
          </a:prstGeom>
          <a:solidFill>
            <a:srgbClr val="E7EFF5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79552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17180"/>
                </a:solidFill>
                <a:latin typeface="Aptos"/>
              </a:rPr>
              <a:t>BRIGHT COFFEE SHOP  •  SALES ANALYSIS  •  JAN–JUN 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47104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17180"/>
                </a:solidFill>
                <a:latin typeface="Aptos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27632"/>
            <a:ext cx="269748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27632"/>
            <a:ext cx="73152" cy="1024128"/>
          </a:xfrm>
          <a:prstGeom prst="rect">
            <a:avLst/>
          </a:prstGeom>
          <a:solidFill>
            <a:srgbClr val="197EBE"/>
          </a:solidFill>
          <a:ln>
            <a:solidFill>
              <a:srgbClr val="19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64792"/>
            <a:ext cx="237744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17180"/>
                </a:solidFill>
                <a:latin typeface="Aptos"/>
              </a:rPr>
              <a:t>TOTAL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84248"/>
            <a:ext cx="23774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02B47"/>
                </a:solidFill>
                <a:latin typeface="Aptos"/>
              </a:rPr>
              <a:t>$698,812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86584"/>
            <a:ext cx="23774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180"/>
                </a:solidFill>
                <a:latin typeface="Aptos"/>
              </a:rPr>
              <a:t>Jan–Jun 2023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1627632"/>
            <a:ext cx="269748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01568" y="1627632"/>
            <a:ext cx="73152" cy="1024128"/>
          </a:xfrm>
          <a:prstGeom prst="rect">
            <a:avLst/>
          </a:prstGeom>
          <a:solidFill>
            <a:srgbClr val="159E7E"/>
          </a:solidFill>
          <a:ln>
            <a:solidFill>
              <a:srgbClr val="159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4448" y="1764792"/>
            <a:ext cx="237744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17180"/>
                </a:solidFill>
                <a:latin typeface="Aptos"/>
              </a:rPr>
              <a:t>TRANSACTIONS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1984248"/>
            <a:ext cx="23774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02B47"/>
                </a:solidFill>
                <a:latin typeface="Aptos"/>
              </a:rPr>
              <a:t>149,116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4448" y="2386584"/>
            <a:ext cx="23774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180"/>
                </a:solidFill>
                <a:latin typeface="Aptos"/>
              </a:rPr>
              <a:t>Recorded transactions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1627632"/>
            <a:ext cx="269748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627632"/>
            <a:ext cx="73152" cy="1024128"/>
          </a:xfrm>
          <a:prstGeom prst="rect">
            <a:avLst/>
          </a:prstGeom>
          <a:solidFill>
            <a:srgbClr val="EF9123"/>
          </a:solidFill>
          <a:ln>
            <a:solidFill>
              <a:srgbClr val="EF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7376" y="1764792"/>
            <a:ext cx="237744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17180"/>
                </a:solidFill>
                <a:latin typeface="Aptos"/>
              </a:rPr>
              <a:t>UNITS SOLD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1984248"/>
            <a:ext cx="23774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02B47"/>
                </a:solidFill>
                <a:latin typeface="Aptos"/>
              </a:rPr>
              <a:t>214,470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2386584"/>
            <a:ext cx="23774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180"/>
                </a:solidFill>
                <a:latin typeface="Aptos"/>
              </a:rPr>
              <a:t>Units across all stores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07424" y="1627632"/>
            <a:ext cx="25146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07424" y="1627632"/>
            <a:ext cx="73152" cy="1024128"/>
          </a:xfrm>
          <a:prstGeom prst="rect">
            <a:avLst/>
          </a:prstGeom>
          <a:solidFill>
            <a:srgbClr val="F2B84B"/>
          </a:solidFill>
          <a:ln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0304" y="1764792"/>
            <a:ext cx="21945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17180"/>
                </a:solidFill>
                <a:latin typeface="Aptos"/>
              </a:rPr>
              <a:t>AVERAGE ORDER VALUE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0304" y="1984248"/>
            <a:ext cx="21945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02B47"/>
                </a:solidFill>
                <a:latin typeface="Aptos"/>
              </a:rPr>
              <a:t>$4.69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0304" y="2386584"/>
            <a:ext cx="21945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180"/>
                </a:solidFill>
                <a:latin typeface="Aptos"/>
              </a:rPr>
              <a:t>Revenue per transaction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2880360"/>
            <a:ext cx="676656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3227832"/>
            <a:ext cx="201168" cy="201168"/>
          </a:xfrm>
          <a:prstGeom prst="ellipse">
            <a:avLst/>
          </a:prstGeom>
          <a:solidFill>
            <a:srgbClr val="159E7E"/>
          </a:solidFill>
          <a:ln>
            <a:solidFill>
              <a:srgbClr val="159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33856" y="3200400"/>
            <a:ext cx="5852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B47"/>
                </a:solidFill>
                <a:latin typeface="Aptos"/>
              </a:rPr>
              <a:t>Coffee + tea account for 66.7% of revenue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" y="3474720"/>
            <a:ext cx="5824728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180"/>
                </a:solidFill>
                <a:latin typeface="Aptos"/>
              </a:rPr>
              <a:t>Protect availability, quality and service consistency in the two core categories.</a:t>
            </a:r>
          </a:p>
        </p:txBody>
      </p:sp>
      <p:sp>
        <p:nvSpPr>
          <p:cNvPr id="33" name="Oval 32"/>
          <p:cNvSpPr/>
          <p:nvPr/>
        </p:nvSpPr>
        <p:spPr>
          <a:xfrm>
            <a:off x="822960" y="4096512"/>
            <a:ext cx="201168" cy="201168"/>
          </a:xfrm>
          <a:prstGeom prst="ellipse">
            <a:avLst/>
          </a:prstGeom>
          <a:solidFill>
            <a:srgbClr val="EF9123"/>
          </a:solidFill>
          <a:ln>
            <a:solidFill>
              <a:srgbClr val="EF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33856" y="4069080"/>
            <a:ext cx="5852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B47"/>
                </a:solidFill>
                <a:latin typeface="Aptos"/>
              </a:rPr>
              <a:t>Morning is the biggest daypart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" y="4343400"/>
            <a:ext cx="5824728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180"/>
                </a:solidFill>
                <a:latin typeface="Aptos"/>
              </a:rPr>
              <a:t>55.6% of revenue arrives in the morning; 09:00–11:59 alone contributes 31.5%.</a:t>
            </a:r>
          </a:p>
        </p:txBody>
      </p:sp>
      <p:sp>
        <p:nvSpPr>
          <p:cNvPr id="36" name="Oval 35"/>
          <p:cNvSpPr/>
          <p:nvPr/>
        </p:nvSpPr>
        <p:spPr>
          <a:xfrm>
            <a:off x="822960" y="4965192"/>
            <a:ext cx="201168" cy="201168"/>
          </a:xfrm>
          <a:prstGeom prst="ellipse">
            <a:avLst/>
          </a:prstGeom>
          <a:solidFill>
            <a:srgbClr val="197EBE"/>
          </a:solidFill>
          <a:ln>
            <a:solidFill>
              <a:srgbClr val="19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33856" y="4937760"/>
            <a:ext cx="5852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B47"/>
                </a:solidFill>
                <a:latin typeface="Aptos"/>
              </a:rPr>
              <a:t>The three stores are closely matched overall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" y="5212080"/>
            <a:ext cx="5824728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180"/>
                </a:solidFill>
                <a:latin typeface="Aptos"/>
              </a:rPr>
              <a:t>Total store revenue is within 2.8%, but Lower Manhattan has a pronounced evening gap.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43800" y="2880360"/>
            <a:ext cx="4069080" cy="3154680"/>
          </a:xfrm>
          <a:prstGeom prst="roundRect">
            <a:avLst/>
          </a:prstGeom>
          <a:solidFill>
            <a:srgbClr val="102B47"/>
          </a:solidFill>
          <a:ln>
            <a:solidFill>
              <a:srgbClr val="102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0" y="3246120"/>
            <a:ext cx="3429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2B84B"/>
                </a:solidFill>
                <a:latin typeface="Aptos"/>
              </a:rPr>
              <a:t>THE BIGGEST OPPORTUNITY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0" y="3657600"/>
            <a:ext cx="329184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ptos"/>
              </a:rPr>
              <a:t>+104%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0" y="4389120"/>
            <a:ext cx="324612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Revenue growth from January to June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5074920"/>
            <a:ext cx="32461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EEAF2"/>
                </a:solidFill>
                <a:latin typeface="Aptos"/>
              </a:rPr>
              <a:t>Investigate what drove the April–June acceleration, then repeat the most effective 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9123"/>
          </a:solidFill>
          <a:ln>
            <a:solidFill>
              <a:srgbClr val="EF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3035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59E7E"/>
                </a:solidFill>
                <a:latin typeface="Aptos"/>
              </a:rPr>
              <a:t>SALES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02B47"/>
                </a:solidFill>
                <a:latin typeface="Aptos"/>
              </a:rPr>
              <a:t>Revenue more than doubled by June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180"/>
                </a:solidFill>
                <a:latin typeface="Aptos"/>
              </a:rPr>
              <a:t>Monthly revenue fell slightly in February, then rose consistently from March through June.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28816"/>
            <a:ext cx="11155680" cy="13716"/>
          </a:xfrm>
          <a:prstGeom prst="rect">
            <a:avLst/>
          </a:prstGeom>
          <a:solidFill>
            <a:srgbClr val="E7EFF5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79552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17180"/>
                </a:solidFill>
                <a:latin typeface="Aptos"/>
              </a:rPr>
              <a:t>BRIGHT COFFEE SHOP  •  SALES ANALYSIS  •  JAN–JUN 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47104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17180"/>
                </a:solidFill>
                <a:latin typeface="Apto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709928"/>
            <a:ext cx="70225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B47"/>
                </a:solidFill>
                <a:latin typeface="Aptos"/>
              </a:rPr>
              <a:t>Monthly revenue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85800" y="2057400"/>
          <a:ext cx="7040880" cy="391363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138160" y="1691640"/>
            <a:ext cx="3474720" cy="1234440"/>
          </a:xfrm>
          <a:prstGeom prst="roundRect">
            <a:avLst/>
          </a:prstGeom>
          <a:solidFill>
            <a:srgbClr val="102B47"/>
          </a:solidFill>
          <a:ln>
            <a:solidFill>
              <a:srgbClr val="102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874519"/>
            <a:ext cx="2880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ptos"/>
              </a:rPr>
              <a:t>+104%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395728"/>
            <a:ext cx="2834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DEEAF2"/>
                </a:solidFill>
                <a:latin typeface="Aptos"/>
              </a:rPr>
              <a:t>January to June revenue growth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154680"/>
            <a:ext cx="347472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3456432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02B47"/>
                </a:solidFill>
                <a:latin typeface="Aptos"/>
              </a:rPr>
              <a:t>What to investigate</a:t>
            </a:r>
          </a:p>
        </p:txBody>
      </p:sp>
      <p:sp>
        <p:nvSpPr>
          <p:cNvPr id="16" name="Oval 15"/>
          <p:cNvSpPr/>
          <p:nvPr/>
        </p:nvSpPr>
        <p:spPr>
          <a:xfrm>
            <a:off x="8412480" y="3941064"/>
            <a:ext cx="201168" cy="201168"/>
          </a:xfrm>
          <a:prstGeom prst="ellipse">
            <a:avLst/>
          </a:prstGeom>
          <a:solidFill>
            <a:srgbClr val="EF9123"/>
          </a:solidFill>
          <a:ln>
            <a:solidFill>
              <a:srgbClr val="EF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23376" y="3913632"/>
            <a:ext cx="2514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2B47"/>
                </a:solidFill>
                <a:latin typeface="Aptos"/>
              </a:rPr>
              <a:t>Campaign timing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23376" y="4187952"/>
            <a:ext cx="2487168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180"/>
                </a:solidFill>
                <a:latin typeface="Aptos"/>
              </a:rPr>
              <a:t>Were promotions or local events active in Q2?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0" y="4782312"/>
            <a:ext cx="201168" cy="201168"/>
          </a:xfrm>
          <a:prstGeom prst="ellipse">
            <a:avLst/>
          </a:prstGeom>
          <a:solidFill>
            <a:srgbClr val="159E7E"/>
          </a:solidFill>
          <a:ln>
            <a:solidFill>
              <a:srgbClr val="159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23376" y="4754880"/>
            <a:ext cx="2514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2B47"/>
                </a:solidFill>
                <a:latin typeface="Aptos"/>
              </a:rPr>
              <a:t>Availability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3376" y="5029200"/>
            <a:ext cx="2487168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180"/>
                </a:solidFill>
                <a:latin typeface="Aptos"/>
              </a:rPr>
              <a:t>Did stock and staffing keep pace with demand?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9123"/>
          </a:solidFill>
          <a:ln>
            <a:solidFill>
              <a:srgbClr val="EF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3035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59E7E"/>
                </a:solidFill>
                <a:latin typeface="Aptos"/>
              </a:rPr>
              <a:t>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02B47"/>
                </a:solidFill>
                <a:latin typeface="Aptos"/>
              </a:rPr>
              <a:t>Coffee and tea are the revenue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180"/>
                </a:solidFill>
                <a:latin typeface="Aptos"/>
              </a:rPr>
              <a:t>Two categories generate two-thirds of revenue; protect the core and test ways to grow smaller categories.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28816"/>
            <a:ext cx="11155680" cy="13716"/>
          </a:xfrm>
          <a:prstGeom prst="rect">
            <a:avLst/>
          </a:prstGeom>
          <a:solidFill>
            <a:srgbClr val="E7EFF5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79552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17180"/>
                </a:solidFill>
                <a:latin typeface="Aptos"/>
              </a:rPr>
              <a:t>BRIGHT COFFEE SHOP  •  SALES ANALYSIS  •  JAN–JUN 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47104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17180"/>
                </a:solidFill>
                <a:latin typeface="Aptos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682495"/>
            <a:ext cx="70225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B47"/>
                </a:solidFill>
                <a:latin typeface="Aptos"/>
              </a:rPr>
              <a:t>Revenue by product category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0080" y="2029967"/>
          <a:ext cx="7040880" cy="39593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092440" y="1691640"/>
            <a:ext cx="3520440" cy="1463040"/>
          </a:xfrm>
          <a:prstGeom prst="roundRect">
            <a:avLst/>
          </a:prstGeom>
          <a:solidFill>
            <a:srgbClr val="E5F5EF"/>
          </a:solidFill>
          <a:ln>
            <a:solidFill>
              <a:srgbClr val="E5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920240"/>
            <a:ext cx="28346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59E7E"/>
                </a:solidFill>
                <a:latin typeface="Aptos"/>
              </a:rPr>
              <a:t>66.7%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487168"/>
            <a:ext cx="2880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2B47"/>
                </a:solidFill>
                <a:latin typeface="Aptos"/>
              </a:rPr>
              <a:t>of revenue from Coffee + Tea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3401568"/>
            <a:ext cx="3520440" cy="2606040"/>
          </a:xfrm>
          <a:prstGeom prst="roundRect">
            <a:avLst/>
          </a:prstGeom>
          <a:solidFill>
            <a:srgbClr val="FCF2E0"/>
          </a:solidFill>
          <a:ln>
            <a:solidFill>
              <a:srgbClr val="FCF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3675887"/>
            <a:ext cx="2834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B47"/>
                </a:solidFill>
                <a:latin typeface="Aptos"/>
              </a:rPr>
              <a:t>Small-category opportunity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4160520"/>
            <a:ext cx="283464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3041"/>
                </a:solidFill>
                <a:latin typeface="Aptos"/>
              </a:rPr>
              <a:t>Branded, Loose Tea, Flavours and Packaged Chocolate combine for only 5.3% of revenue.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5102352"/>
            <a:ext cx="283464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180"/>
                </a:solidFill>
                <a:latin typeface="Aptos"/>
              </a:rPr>
              <a:t>Test bundles, improved placement and staff recommendations before making major range changes.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9123"/>
          </a:solidFill>
          <a:ln>
            <a:solidFill>
              <a:srgbClr val="EF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3035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59E7E"/>
                </a:solidFill>
                <a:latin typeface="Aptos"/>
              </a:rPr>
              <a:t>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02B47"/>
                </a:solidFill>
                <a:latin typeface="Aptos"/>
              </a:rPr>
              <a:t>Best-selling products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180"/>
                </a:solidFill>
                <a:latin typeface="Aptos"/>
              </a:rPr>
              <a:t>Barista Espresso leads the product ranking; the top 10 products generate about 79% of total revenue.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28816"/>
            <a:ext cx="11155680" cy="13716"/>
          </a:xfrm>
          <a:prstGeom prst="rect">
            <a:avLst/>
          </a:prstGeom>
          <a:solidFill>
            <a:srgbClr val="E7EFF5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79552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17180"/>
                </a:solidFill>
                <a:latin typeface="Aptos"/>
              </a:rPr>
              <a:t>BRIGHT COFFEE SHOP  •  SALES ANALYSIS  •  JAN–JUN 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47104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17180"/>
                </a:solidFill>
                <a:latin typeface="Aptos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664207"/>
            <a:ext cx="72969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B47"/>
                </a:solidFill>
                <a:latin typeface="Aptos"/>
              </a:rPr>
              <a:t>Top 10 products by revenue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0080" y="2011680"/>
          <a:ext cx="7315200" cy="40050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275320" y="1737360"/>
            <a:ext cx="3337560" cy="1371600"/>
          </a:xfrm>
          <a:prstGeom prst="roundRect">
            <a:avLst/>
          </a:prstGeom>
          <a:solidFill>
            <a:srgbClr val="102B47"/>
          </a:solidFill>
          <a:ln>
            <a:solidFill>
              <a:srgbClr val="102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1965960"/>
            <a:ext cx="27432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ptos"/>
              </a:rPr>
              <a:t>$91,406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487168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DEEAF2"/>
                </a:solidFill>
                <a:latin typeface="Aptos"/>
              </a:rPr>
              <a:t>Barista Espresso • #1 product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3383280"/>
            <a:ext cx="3337560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3675887"/>
            <a:ext cx="2743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B47"/>
                </a:solidFill>
                <a:latin typeface="Aptos"/>
              </a:rPr>
              <a:t>Operational move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4160520"/>
            <a:ext cx="269748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3041"/>
                </a:solidFill>
                <a:latin typeface="Aptos"/>
              </a:rPr>
              <a:t>Prioritise availability and consistent preparation of the leading products, especially before the 09:00–11:59 peak.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5166360"/>
            <a:ext cx="26974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180"/>
                </a:solidFill>
                <a:latin typeface="Aptos"/>
              </a:rPr>
              <a:t>Track stockouts and attach rates to see whether bundles add incremental sales.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9123"/>
          </a:solidFill>
          <a:ln>
            <a:solidFill>
              <a:srgbClr val="EF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3035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59E7E"/>
                </a:solidFill>
                <a:latin typeface="Aptos"/>
              </a:rPr>
              <a:t>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02B47"/>
                </a:solidFill>
                <a:latin typeface="Aptos"/>
              </a:rPr>
              <a:t>Low-selling products: test before you delist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180"/>
                </a:solidFill>
                <a:latin typeface="Aptos"/>
              </a:rPr>
              <a:t>The 10 lowest-revenue products each generated under $5,600 over six months and together represent 3.9% of revenue.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28816"/>
            <a:ext cx="11155680" cy="13716"/>
          </a:xfrm>
          <a:prstGeom prst="rect">
            <a:avLst/>
          </a:prstGeom>
          <a:solidFill>
            <a:srgbClr val="E7EFF5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79552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17180"/>
                </a:solidFill>
                <a:latin typeface="Aptos"/>
              </a:rPr>
              <a:t>BRIGHT COFFEE SHOP  •  SALES ANALYSIS  •  JAN–JUN 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47104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17180"/>
                </a:solidFill>
                <a:latin typeface="Aptos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664207"/>
            <a:ext cx="674827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B47"/>
                </a:solidFill>
                <a:latin typeface="Aptos"/>
              </a:rPr>
              <a:t>Lowest 10 products by revenue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0080" y="2011680"/>
          <a:ext cx="6766560" cy="40050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818120" y="1691640"/>
            <a:ext cx="37947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993392"/>
            <a:ext cx="3154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2B47"/>
                </a:solidFill>
                <a:latin typeface="Aptos"/>
              </a:rPr>
              <a:t>Three low-risk experiments</a:t>
            </a:r>
          </a:p>
        </p:txBody>
      </p:sp>
      <p:sp>
        <p:nvSpPr>
          <p:cNvPr id="13" name="Oval 12"/>
          <p:cNvSpPr/>
          <p:nvPr/>
        </p:nvSpPr>
        <p:spPr>
          <a:xfrm>
            <a:off x="8138160" y="2587751"/>
            <a:ext cx="201168" cy="201168"/>
          </a:xfrm>
          <a:prstGeom prst="ellipse">
            <a:avLst/>
          </a:prstGeom>
          <a:solidFill>
            <a:srgbClr val="EF9123"/>
          </a:solidFill>
          <a:ln>
            <a:solidFill>
              <a:srgbClr val="EF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49056" y="2560320"/>
            <a:ext cx="2788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2B47"/>
                </a:solidFill>
                <a:latin typeface="Aptos"/>
              </a:rPr>
              <a:t>Bundle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49056" y="2834639"/>
            <a:ext cx="2761488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180"/>
                </a:solidFill>
                <a:latin typeface="Aptos"/>
              </a:rPr>
              <a:t>Pair Green Tea or Herbal Tea with a Scone or top seller.</a:t>
            </a:r>
          </a:p>
        </p:txBody>
      </p:sp>
      <p:sp>
        <p:nvSpPr>
          <p:cNvPr id="16" name="Oval 15"/>
          <p:cNvSpPr/>
          <p:nvPr/>
        </p:nvSpPr>
        <p:spPr>
          <a:xfrm>
            <a:off x="8138160" y="3547872"/>
            <a:ext cx="201168" cy="201168"/>
          </a:xfrm>
          <a:prstGeom prst="ellipse">
            <a:avLst/>
          </a:prstGeom>
          <a:solidFill>
            <a:srgbClr val="159E7E"/>
          </a:solidFill>
          <a:ln>
            <a:solidFill>
              <a:srgbClr val="159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49056" y="3520440"/>
            <a:ext cx="2788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2B47"/>
                </a:solidFill>
                <a:latin typeface="Aptos"/>
              </a:rPr>
              <a:t>Make it visible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6" y="3794760"/>
            <a:ext cx="2761488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180"/>
                </a:solidFill>
                <a:latin typeface="Aptos"/>
              </a:rPr>
              <a:t>Add a small counter display and a staff recommendation prompt.</a:t>
            </a:r>
          </a:p>
        </p:txBody>
      </p:sp>
      <p:sp>
        <p:nvSpPr>
          <p:cNvPr id="19" name="Oval 18"/>
          <p:cNvSpPr/>
          <p:nvPr/>
        </p:nvSpPr>
        <p:spPr>
          <a:xfrm>
            <a:off x="8138160" y="4507992"/>
            <a:ext cx="201168" cy="201168"/>
          </a:xfrm>
          <a:prstGeom prst="ellipse">
            <a:avLst/>
          </a:prstGeom>
          <a:solidFill>
            <a:srgbClr val="197EBE"/>
          </a:solidFill>
          <a:ln>
            <a:solidFill>
              <a:srgbClr val="19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4480560"/>
            <a:ext cx="2788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2B47"/>
                </a:solidFill>
                <a:latin typeface="Aptos"/>
              </a:rPr>
              <a:t>Measure 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6" y="4754880"/>
            <a:ext cx="2761488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180"/>
                </a:solidFill>
                <a:latin typeface="Aptos"/>
              </a:rPr>
              <a:t>Compare units, revenue and margin before and during the test.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5532120"/>
            <a:ext cx="3108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17180"/>
                </a:solidFill>
                <a:latin typeface="Aptos"/>
              </a:rPr>
              <a:t>Decision rule: scale what lifts incremental sales; change or discontinue what does not.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9123"/>
          </a:solidFill>
          <a:ln>
            <a:solidFill>
              <a:srgbClr val="EF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3035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59E7E"/>
                </a:solidFill>
                <a:latin typeface="Aptos"/>
              </a:rPr>
              <a:t>LOCATION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02B47"/>
                </a:solidFill>
                <a:latin typeface="Aptos"/>
              </a:rPr>
              <a:t>Overall store revenue is balanced; evening performance is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180"/>
                </a:solidFill>
                <a:latin typeface="Aptos"/>
              </a:rPr>
              <a:t>All three locations are within 2.8% of each other overall, but Lower Manhattan trails sharply in the evening.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28816"/>
            <a:ext cx="11155680" cy="13716"/>
          </a:xfrm>
          <a:prstGeom prst="rect">
            <a:avLst/>
          </a:prstGeom>
          <a:solidFill>
            <a:srgbClr val="E7EFF5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79552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17180"/>
                </a:solidFill>
                <a:latin typeface="Aptos"/>
              </a:rPr>
              <a:t>BRIGHT COFFEE SHOP  •  SALES ANALYSIS  •  JAN–JUN 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47104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17180"/>
                </a:solidFill>
                <a:latin typeface="Aptos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682495"/>
            <a:ext cx="51937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B47"/>
                </a:solidFill>
                <a:latin typeface="Aptos"/>
              </a:rPr>
              <a:t>Revenue by store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0080" y="2029967"/>
          <a:ext cx="5212080" cy="23591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263640" y="1691640"/>
            <a:ext cx="5349240" cy="1371600"/>
          </a:xfrm>
          <a:prstGeom prst="roundRect">
            <a:avLst/>
          </a:prstGeom>
          <a:solidFill>
            <a:srgbClr val="FCF2E0"/>
          </a:solidFill>
          <a:ln>
            <a:solidFill>
              <a:srgbClr val="FCF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901952"/>
            <a:ext cx="4754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02B47"/>
                </a:solidFill>
                <a:latin typeface="Aptos"/>
              </a:rPr>
              <a:t>Priority gap: Lower Manhattan evenings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286000"/>
            <a:ext cx="18288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BE5341"/>
                </a:solidFill>
                <a:latin typeface="Aptos"/>
              </a:rPr>
              <a:t>$19,013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267712"/>
            <a:ext cx="28346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F3041"/>
                </a:solidFill>
                <a:latin typeface="Aptos"/>
              </a:rPr>
              <a:t>Evening revenue — 61% below Hell's Kitchen and 154% below Astoria.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736592"/>
            <a:ext cx="1097280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919472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2B47"/>
                </a:solidFill>
                <a:latin typeface="Aptos"/>
              </a:rPr>
              <a:t>Revenue by store and daypart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285232"/>
            <a:ext cx="19202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17180"/>
                </a:solidFill>
                <a:latin typeface="Aptos"/>
              </a:rPr>
              <a:t>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5285232"/>
            <a:ext cx="19202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17180"/>
                </a:solidFill>
                <a:latin typeface="Aptos"/>
              </a:rPr>
              <a:t>Morning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5285232"/>
            <a:ext cx="19202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17180"/>
                </a:solidFill>
                <a:latin typeface="Aptos"/>
              </a:rPr>
              <a:t>Afternoon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5285232"/>
            <a:ext cx="19202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17180"/>
                </a:solidFill>
                <a:latin typeface="Aptos"/>
              </a:rPr>
              <a:t>Evening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504688"/>
            <a:ext cx="2103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F3041"/>
                </a:solidFill>
                <a:latin typeface="Aptos"/>
              </a:rPr>
              <a:t>Hell's Kitchen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5504688"/>
            <a:ext cx="2103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F3041"/>
                </a:solidFill>
                <a:latin typeface="Aptos"/>
              </a:rPr>
              <a:t>$139,443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504688"/>
            <a:ext cx="2103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F3041"/>
                </a:solidFill>
                <a:latin typeface="Aptos"/>
              </a:rPr>
              <a:t>$59,012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5504688"/>
            <a:ext cx="2103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F3041"/>
                </a:solidFill>
                <a:latin typeface="Aptos"/>
              </a:rPr>
              <a:t>$38,055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87568"/>
            <a:ext cx="2103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F3041"/>
                </a:solidFill>
                <a:latin typeface="Aptos"/>
              </a:rPr>
              <a:t>Lower Manhattan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5687568"/>
            <a:ext cx="2103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F3041"/>
                </a:solidFill>
                <a:latin typeface="Aptos"/>
              </a:rPr>
              <a:t>$143,903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5687568"/>
            <a:ext cx="2103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F3041"/>
                </a:solidFill>
                <a:latin typeface="Aptos"/>
              </a:rPr>
              <a:t>$67,141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5687568"/>
            <a:ext cx="2103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F3041"/>
                </a:solidFill>
                <a:latin typeface="Aptos"/>
              </a:rPr>
              <a:t>$19,013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870448"/>
            <a:ext cx="2103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F3041"/>
                </a:solidFill>
                <a:latin typeface="Aptos"/>
              </a:rPr>
              <a:t>Astoria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5870448"/>
            <a:ext cx="2103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F3041"/>
                </a:solidFill>
                <a:latin typeface="Aptos"/>
              </a:rPr>
              <a:t>$104,943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5870448"/>
            <a:ext cx="2103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F3041"/>
                </a:solidFill>
                <a:latin typeface="Aptos"/>
              </a:rPr>
              <a:t>$78,567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5870448"/>
            <a:ext cx="2103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F3041"/>
                </a:solidFill>
                <a:latin typeface="Aptos"/>
              </a:rPr>
              <a:t>$48,734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9123"/>
          </a:solidFill>
          <a:ln>
            <a:solidFill>
              <a:srgbClr val="EF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3035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59E7E"/>
                </a:solidFill>
                <a:latin typeface="Aptos"/>
              </a:rPr>
              <a:t>TIMING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02B47"/>
                </a:solidFill>
                <a:latin typeface="Aptos"/>
              </a:rPr>
              <a:t>Morning demand sets the 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180"/>
                </a:solidFill>
                <a:latin typeface="Aptos"/>
              </a:rPr>
              <a:t>Revenue by three-hour time bucket shows a strong morning concentration and a smaller evening opportunity.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28816"/>
            <a:ext cx="11155680" cy="13716"/>
          </a:xfrm>
          <a:prstGeom prst="rect">
            <a:avLst/>
          </a:prstGeom>
          <a:solidFill>
            <a:srgbClr val="E7EFF5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79552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17180"/>
                </a:solidFill>
                <a:latin typeface="Aptos"/>
              </a:rPr>
              <a:t>BRIGHT COFFEE SHOP  •  SALES ANALYSIS  •  JAN–JUN 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47104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17180"/>
                </a:solidFill>
                <a:latin typeface="Aptos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682495"/>
            <a:ext cx="65653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B47"/>
                </a:solidFill>
                <a:latin typeface="Aptos"/>
              </a:rPr>
              <a:t>Revenue by 3-hour time bucket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0080" y="2029967"/>
          <a:ext cx="6583680" cy="391363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635240" y="1691640"/>
            <a:ext cx="3977639" cy="1188720"/>
          </a:xfrm>
          <a:prstGeom prst="roundRect">
            <a:avLst/>
          </a:prstGeom>
          <a:solidFill>
            <a:srgbClr val="102B47"/>
          </a:solidFill>
          <a:ln>
            <a:solidFill>
              <a:srgbClr val="102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1847088"/>
            <a:ext cx="32461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ptos"/>
              </a:rPr>
              <a:t>55.6%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350008"/>
            <a:ext cx="3246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DEEAF2"/>
                </a:solidFill>
                <a:latin typeface="Aptos"/>
              </a:rPr>
              <a:t>of total revenue is earned in the morning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3127248"/>
            <a:ext cx="3977639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955279" y="3493008"/>
            <a:ext cx="164592" cy="164592"/>
          </a:xfrm>
          <a:prstGeom prst="ellipse">
            <a:avLst/>
          </a:prstGeom>
          <a:solidFill>
            <a:srgbClr val="159E7E"/>
          </a:solidFill>
          <a:ln>
            <a:solidFill>
              <a:srgbClr val="159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3456432"/>
            <a:ext cx="1417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2B47"/>
                </a:solidFill>
                <a:latin typeface="Aptos"/>
              </a:rPr>
              <a:t>Morning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3456432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1F3041"/>
                </a:solidFill>
                <a:latin typeface="Aptos"/>
              </a:rPr>
              <a:t>$388,289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44200" y="3456432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159E7E"/>
                </a:solidFill>
                <a:latin typeface="Aptos"/>
              </a:rPr>
              <a:t>55.6%</a:t>
            </a:r>
          </a:p>
        </p:txBody>
      </p:sp>
      <p:sp>
        <p:nvSpPr>
          <p:cNvPr id="19" name="Oval 18"/>
          <p:cNvSpPr/>
          <p:nvPr/>
        </p:nvSpPr>
        <p:spPr>
          <a:xfrm>
            <a:off x="7955279" y="4242816"/>
            <a:ext cx="164592" cy="164592"/>
          </a:xfrm>
          <a:prstGeom prst="ellipse">
            <a:avLst/>
          </a:prstGeom>
          <a:solidFill>
            <a:srgbClr val="197EBE"/>
          </a:solidFill>
          <a:ln>
            <a:solidFill>
              <a:srgbClr val="19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4206240"/>
            <a:ext cx="1417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2B47"/>
                </a:solidFill>
                <a:latin typeface="Aptos"/>
              </a:rPr>
              <a:t>Afternoon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4206240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1F3041"/>
                </a:solidFill>
                <a:latin typeface="Aptos"/>
              </a:rPr>
              <a:t>$204,721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4206240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197EBE"/>
                </a:solidFill>
                <a:latin typeface="Aptos"/>
              </a:rPr>
              <a:t>29.3%</a:t>
            </a:r>
          </a:p>
        </p:txBody>
      </p:sp>
      <p:sp>
        <p:nvSpPr>
          <p:cNvPr id="23" name="Oval 22"/>
          <p:cNvSpPr/>
          <p:nvPr/>
        </p:nvSpPr>
        <p:spPr>
          <a:xfrm>
            <a:off x="7955279" y="4992624"/>
            <a:ext cx="164592" cy="164592"/>
          </a:xfrm>
          <a:prstGeom prst="ellipse">
            <a:avLst/>
          </a:prstGeom>
          <a:solidFill>
            <a:srgbClr val="EF9123"/>
          </a:solidFill>
          <a:ln>
            <a:solidFill>
              <a:srgbClr val="EF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4956048"/>
            <a:ext cx="1417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2B47"/>
                </a:solidFill>
                <a:latin typeface="Aptos"/>
              </a:rPr>
              <a:t>Evening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4956048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1F3041"/>
                </a:solidFill>
                <a:latin typeface="Aptos"/>
              </a:rPr>
              <a:t>$105,803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44200" y="4956048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EF9123"/>
                </a:solidFill>
                <a:latin typeface="Aptos"/>
              </a:rPr>
              <a:t>15.1%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5669280"/>
            <a:ext cx="32918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180"/>
                </a:solidFill>
                <a:latin typeface="Aptos"/>
              </a:rPr>
              <a:t>Staff and replenish ahead of 09:00–11:59; test evening offers first in Lower Manhattan.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9123"/>
          </a:solidFill>
          <a:ln>
            <a:solidFill>
              <a:srgbClr val="EF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3035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59E7E"/>
                </a:solidFill>
                <a:latin typeface="Aptos"/>
              </a:rPr>
              <a:t>SALES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02B47"/>
                </a:solidFill>
                <a:latin typeface="Aptos"/>
              </a:rPr>
              <a:t>Weekday sales lead in total; per-day demand is comparable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180"/>
                </a:solidFill>
                <a:latin typeface="Aptos"/>
              </a:rPr>
              <a:t>Weekdays cover five days and weekends two, so totals alone do not mean weekdays are individually stronger.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28816"/>
            <a:ext cx="11155680" cy="13716"/>
          </a:xfrm>
          <a:prstGeom prst="rect">
            <a:avLst/>
          </a:prstGeom>
          <a:solidFill>
            <a:srgbClr val="E7EFF5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79552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17180"/>
                </a:solidFill>
                <a:latin typeface="Aptos"/>
              </a:rPr>
              <a:t>BRIGHT COFFEE SHOP  •  SALES ANALYSIS  •  JAN–JUN 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47104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17180"/>
                </a:solidFill>
                <a:latin typeface="Aptos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682495"/>
            <a:ext cx="59253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B47"/>
                </a:solidFill>
                <a:latin typeface="Aptos"/>
              </a:rPr>
              <a:t>Revenue by day classification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0080" y="2029967"/>
          <a:ext cx="5943600" cy="39593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086600" y="1737360"/>
            <a:ext cx="4526280" cy="1828800"/>
          </a:xfrm>
          <a:prstGeom prst="roundRect">
            <a:avLst/>
          </a:prstGeom>
          <a:solidFill>
            <a:srgbClr val="EBF5FB"/>
          </a:solidFill>
          <a:ln>
            <a:solidFill>
              <a:srgbClr val="EB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993392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97EBE"/>
                </a:solidFill>
                <a:latin typeface="Aptos"/>
              </a:rPr>
              <a:t>$503.6K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487168"/>
            <a:ext cx="1645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02B47"/>
                </a:solidFill>
                <a:latin typeface="Aptos"/>
              </a:rPr>
              <a:t>Weekdays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1993392"/>
            <a:ext cx="1737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EF9123"/>
                </a:solidFill>
                <a:latin typeface="Aptos"/>
              </a:rPr>
              <a:t>$195.2K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487168"/>
            <a:ext cx="1737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02B47"/>
                </a:solidFill>
                <a:latin typeface="Aptos"/>
              </a:rPr>
              <a:t>Weekends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971800"/>
            <a:ext cx="3657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F3041"/>
                </a:solidFill>
                <a:latin typeface="Aptos"/>
              </a:rPr>
              <a:t>Daily revenue varies by less than 5% across the week.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3794760"/>
            <a:ext cx="45262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4096512"/>
            <a:ext cx="3657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02B47"/>
                </a:solidFill>
                <a:latin typeface="Aptos"/>
              </a:rPr>
              <a:t>What this means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4553712"/>
            <a:ext cx="3657600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180"/>
                </a:solidFill>
                <a:latin typeface="Aptos"/>
              </a:rPr>
              <a:t>Avoid over-investing in a single weekday. Test offers around specific dayparts and customer missions, then compare revenue per day and average transaction value.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9123"/>
          </a:solidFill>
          <a:ln>
            <a:solidFill>
              <a:srgbClr val="EF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3035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59E7E"/>
                </a:solidFill>
                <a:latin typeface="Aptos"/>
              </a:rP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02B47"/>
                </a:solidFill>
                <a:latin typeface="Aptos"/>
              </a:rPr>
              <a:t>Four actions to turn analysis into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180"/>
                </a:solidFill>
                <a:latin typeface="Aptos"/>
              </a:rPr>
              <a:t>Start with focused tests, assign owners, and measure results before scaling.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28816"/>
            <a:ext cx="11155680" cy="13716"/>
          </a:xfrm>
          <a:prstGeom prst="rect">
            <a:avLst/>
          </a:prstGeom>
          <a:solidFill>
            <a:srgbClr val="E7EFF5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79552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17180"/>
                </a:solidFill>
                <a:latin typeface="Aptos"/>
              </a:rPr>
              <a:t>BRIGHT COFFEE SHOP  •  SALES ANALYSIS  •  JAN–JUN 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47104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17180"/>
                </a:solidFill>
                <a:latin typeface="Aptos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91640"/>
            <a:ext cx="5440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1947672"/>
            <a:ext cx="566928" cy="566928"/>
          </a:xfrm>
          <a:prstGeom prst="ellipse">
            <a:avLst/>
          </a:prstGeom>
          <a:solidFill>
            <a:srgbClr val="EF9123"/>
          </a:solidFill>
          <a:ln>
            <a:solidFill>
              <a:srgbClr val="EF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75688"/>
            <a:ext cx="56692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947672"/>
            <a:ext cx="4114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2B47"/>
                </a:solidFill>
                <a:latin typeface="Aptos"/>
              </a:rPr>
              <a:t>Target evening demand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404872"/>
            <a:ext cx="406908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180"/>
                </a:solidFill>
                <a:latin typeface="Aptos"/>
              </a:rPr>
              <a:t>Start in Lower Manhattan with evening-specific offers and local marketing.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691640"/>
            <a:ext cx="5440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37960" y="1947672"/>
            <a:ext cx="566928" cy="566928"/>
          </a:xfrm>
          <a:prstGeom prst="ellipse">
            <a:avLst/>
          </a:prstGeom>
          <a:solidFill>
            <a:srgbClr val="159E7E"/>
          </a:solidFill>
          <a:ln>
            <a:solidFill>
              <a:srgbClr val="159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075688"/>
            <a:ext cx="56692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1947672"/>
            <a:ext cx="4114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2B47"/>
                </a:solidFill>
                <a:latin typeface="Aptos"/>
              </a:rPr>
              <a:t>Protect the morning rush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2404872"/>
            <a:ext cx="406908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180"/>
                </a:solidFill>
                <a:latin typeface="Aptos"/>
              </a:rPr>
              <a:t>Confirm staffing and stock before 09:00–11:59; prioritise Barista Espresso, Brewed Chai Tea and Gourmet Brewed Coffee.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840480"/>
            <a:ext cx="5440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096512"/>
            <a:ext cx="566928" cy="566928"/>
          </a:xfrm>
          <a:prstGeom prst="ellipse">
            <a:avLst/>
          </a:prstGeom>
          <a:solidFill>
            <a:srgbClr val="197EBE"/>
          </a:solidFill>
          <a:ln>
            <a:solidFill>
              <a:srgbClr val="19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224528"/>
            <a:ext cx="56692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096512"/>
            <a:ext cx="4114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2B47"/>
                </a:solidFill>
                <a:latin typeface="Aptos"/>
              </a:rPr>
              <a:t>Cross-sell low performers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553712"/>
            <a:ext cx="406908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180"/>
                </a:solidFill>
                <a:latin typeface="Aptos"/>
              </a:rPr>
              <a:t>Bundle Green Tea, Herbal Tea and Organic Chocolate with proven best-sellers; track incremental sales.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840480"/>
            <a:ext cx="5440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37960" y="4096512"/>
            <a:ext cx="566928" cy="566928"/>
          </a:xfrm>
          <a:prstGeom prst="ellipse">
            <a:avLst/>
          </a:prstGeom>
          <a:solidFill>
            <a:srgbClr val="F2B84B"/>
          </a:solidFill>
          <a:ln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224528"/>
            <a:ext cx="56692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4096512"/>
            <a:ext cx="4114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2B47"/>
                </a:solidFill>
                <a:latin typeface="Aptos"/>
              </a:rPr>
              <a:t>Reinforce core categories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4553712"/>
            <a:ext cx="406908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180"/>
                </a:solidFill>
                <a:latin typeface="Aptos"/>
              </a:rPr>
              <a:t>Keep Coffee and Tea in stock, maintain beverage consistency and test seasonal variants.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6016752"/>
            <a:ext cx="11109960" cy="329184"/>
          </a:xfrm>
          <a:prstGeom prst="roundRect">
            <a:avLst/>
          </a:prstGeom>
          <a:solidFill>
            <a:srgbClr val="102B47"/>
          </a:solidFill>
          <a:ln>
            <a:solidFill>
              <a:srgbClr val="102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6089904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MEASURE: revenue • transactions • units • average order value • stockouts • gross margin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9123"/>
          </a:solidFill>
          <a:ln>
            <a:solidFill>
              <a:srgbClr val="EF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3035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59E7E"/>
                </a:solidFill>
                <a:latin typeface="Aptos"/>
              </a:rPr>
              <a:t>EXECUTION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02B47"/>
                </a:solidFill>
                <a:latin typeface="Aptos"/>
              </a:rPr>
              <a:t>A practical 30-day test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180"/>
                </a:solidFill>
                <a:latin typeface="Aptos"/>
              </a:rPr>
              <a:t>Use a short pilot to learn quickly, then scale only the interventions that produce measurable improvement.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28816"/>
            <a:ext cx="11155680" cy="13716"/>
          </a:xfrm>
          <a:prstGeom prst="rect">
            <a:avLst/>
          </a:prstGeom>
          <a:solidFill>
            <a:srgbClr val="E7EFF5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79552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17180"/>
                </a:solidFill>
                <a:latin typeface="Aptos"/>
              </a:rPr>
              <a:t>BRIGHT COFFEE SHOP  •  SALES ANALYSIS  •  JAN–JUN 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47104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17180"/>
                </a:solidFill>
                <a:latin typeface="Aptos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965960"/>
            <a:ext cx="26060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965960"/>
            <a:ext cx="2606040" cy="109728"/>
          </a:xfrm>
          <a:prstGeom prst="rect">
            <a:avLst/>
          </a:prstGeom>
          <a:solidFill>
            <a:srgbClr val="197EBE"/>
          </a:solidFill>
          <a:ln>
            <a:solidFill>
              <a:srgbClr val="19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2148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97EBE"/>
                </a:solidFill>
                <a:latin typeface="Aptos"/>
              </a:rPr>
              <a:t>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724912"/>
            <a:ext cx="21488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02B47"/>
                </a:solidFill>
                <a:latin typeface="Aptos"/>
              </a:rPr>
              <a:t>Prepare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10128"/>
            <a:ext cx="2103120" cy="11887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180"/>
                </a:solidFill>
                <a:latin typeface="Aptos"/>
              </a:rPr>
              <a:t>Confirm evening baseline at Lower Manhattan; check stock, staffing and promotion constraints.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91256" y="3127248"/>
            <a:ext cx="25603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EF9123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47288" y="1965960"/>
            <a:ext cx="26060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47288" y="1965960"/>
            <a:ext cx="2606040" cy="109728"/>
          </a:xfrm>
          <a:prstGeom prst="rect">
            <a:avLst/>
          </a:prstGeom>
          <a:solidFill>
            <a:srgbClr val="EF9123"/>
          </a:solidFill>
          <a:ln>
            <a:solidFill>
              <a:srgbClr val="EF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75887" y="2331720"/>
            <a:ext cx="2148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F9123"/>
                </a:solidFill>
                <a:latin typeface="Aptos"/>
              </a:rPr>
              <a:t>WEEK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5887" y="2724912"/>
            <a:ext cx="21488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02B47"/>
                </a:solidFill>
                <a:latin typeface="Aptos"/>
              </a:rPr>
              <a:t>Launch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5887" y="3310128"/>
            <a:ext cx="2103120" cy="11887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180"/>
                </a:solidFill>
                <a:latin typeface="Aptos"/>
              </a:rPr>
              <a:t>Pilot a targeted evening offer and a simple best-seller bundle; brief the team.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44183" y="3127248"/>
            <a:ext cx="25603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EF9123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0216" y="1965960"/>
            <a:ext cx="26060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0216" y="1965960"/>
            <a:ext cx="2606040" cy="109728"/>
          </a:xfrm>
          <a:prstGeom prst="rect">
            <a:avLst/>
          </a:prstGeom>
          <a:solidFill>
            <a:srgbClr val="159E7E"/>
          </a:solidFill>
          <a:ln>
            <a:solidFill>
              <a:srgbClr val="159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2331720"/>
            <a:ext cx="2148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59E7E"/>
                </a:solidFill>
                <a:latin typeface="Aptos"/>
              </a:rPr>
              <a:t>WEEK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8816" y="2724912"/>
            <a:ext cx="21488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02B47"/>
                </a:solidFill>
                <a:latin typeface="Aptos"/>
              </a:rPr>
              <a:t>Measure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8816" y="3310128"/>
            <a:ext cx="2103120" cy="11887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180"/>
                </a:solidFill>
                <a:latin typeface="Aptos"/>
              </a:rPr>
              <a:t>Compare with baseline: revenue by daypart, transactions, units per transaction and margin.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97112" y="3127248"/>
            <a:ext cx="25603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EF9123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53144" y="1965960"/>
            <a:ext cx="26060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53144" y="1965960"/>
            <a:ext cx="2606040" cy="109728"/>
          </a:xfrm>
          <a:prstGeom prst="rect">
            <a:avLst/>
          </a:prstGeom>
          <a:solidFill>
            <a:srgbClr val="F2B84B"/>
          </a:solidFill>
          <a:ln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81744" y="2331720"/>
            <a:ext cx="2148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2B84B"/>
                </a:solidFill>
                <a:latin typeface="Aptos"/>
              </a:rPr>
              <a:t>WEEK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81744" y="2724912"/>
            <a:ext cx="21488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02B47"/>
                </a:solidFill>
                <a:latin typeface="Aptos"/>
              </a:rPr>
              <a:t>Decide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81744" y="3310128"/>
            <a:ext cx="2103120" cy="11887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180"/>
                </a:solidFill>
                <a:latin typeface="Aptos"/>
              </a:rPr>
              <a:t>Keep, adjust or stop each test; document what worked and plan the next cycle.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5440680"/>
            <a:ext cx="11109960" cy="731520"/>
          </a:xfrm>
          <a:prstGeom prst="roundRect">
            <a:avLst/>
          </a:prstGeom>
          <a:solidFill>
            <a:srgbClr val="E5F5EF"/>
          </a:solidFill>
          <a:ln>
            <a:solidFill>
              <a:srgbClr val="E5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641848"/>
            <a:ext cx="10515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02B47"/>
                </a:solidFill>
                <a:latin typeface="Aptos"/>
              </a:rPr>
              <a:t>Success looks like: a measurable lift in Lower Manhattan evening revenue without damaging margin or morning service.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F9123"/>
          </a:solidFill>
          <a:ln>
            <a:solidFill>
              <a:srgbClr val="EF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2743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2B84B"/>
                </a:solidFill>
                <a:latin typeface="Aptos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6492240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ptos"/>
              </a:rPr>
              <a:t>Build a repeatable
sales improvement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603504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DEEAF2"/>
                </a:solidFill>
                <a:latin typeface="Aptos"/>
              </a:rPr>
              <a:t>Turn this six-month review into an operating rhythm that keeps the team focused on revenue drivers and emerging gaps.</a:t>
            </a:r>
          </a:p>
        </p:txBody>
      </p:sp>
      <p:sp>
        <p:nvSpPr>
          <p:cNvPr id="6" name="Arc 5"/>
          <p:cNvSpPr/>
          <p:nvPr/>
        </p:nvSpPr>
        <p:spPr>
          <a:xfrm>
            <a:off x="9031986" y="2202789"/>
            <a:ext cx="2196846" cy="595274"/>
          </a:xfrm>
          <a:prstGeom prst="arc">
            <a:avLst/>
          </a:prstGeom>
          <a:solidFill>
            <a:srgbClr val="FAF7F1"/>
          </a:solidFill>
          <a:ln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rapezoid 6"/>
          <p:cNvSpPr/>
          <p:nvPr/>
        </p:nvSpPr>
        <p:spPr>
          <a:xfrm>
            <a:off x="9272930" y="1593342"/>
            <a:ext cx="1559052" cy="1020470"/>
          </a:xfrm>
          <a:prstGeom prst="trapezoid">
            <a:avLst/>
          </a:prstGeom>
          <a:solidFill>
            <a:srgbClr val="FFFFFF"/>
          </a:solidFill>
          <a:ln w="25400"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91825" y="1777593"/>
            <a:ext cx="737006" cy="595274"/>
          </a:xfrm>
          <a:prstGeom prst="ellipse">
            <a:avLst/>
          </a:prstGeom>
          <a:solidFill>
            <a:srgbClr val="FAF7F1"/>
          </a:solidFill>
          <a:ln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33557" y="1890979"/>
            <a:ext cx="425196" cy="354330"/>
          </a:xfrm>
          <a:prstGeom prst="ellipse">
            <a:avLst/>
          </a:prstGeom>
          <a:solidFill>
            <a:srgbClr val="173F63"/>
          </a:solidFill>
          <a:ln>
            <a:solidFill>
              <a:srgbClr val="173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406786" y="1805940"/>
            <a:ext cx="283464" cy="39684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9641433" y="1125626"/>
            <a:ext cx="311810" cy="396849"/>
          </a:xfrm>
          <a:prstGeom prst="arc">
            <a:avLst/>
          </a:prstGeom>
          <a:solidFill>
            <a:srgbClr val="FAF7F1"/>
          </a:solidFill>
          <a:ln w="25400"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rc 11"/>
          <p:cNvSpPr/>
          <p:nvPr/>
        </p:nvSpPr>
        <p:spPr>
          <a:xfrm>
            <a:off x="9924897" y="1196492"/>
            <a:ext cx="311810" cy="538581"/>
          </a:xfrm>
          <a:prstGeom prst="arc">
            <a:avLst/>
          </a:prstGeom>
          <a:solidFill>
            <a:srgbClr val="FAF7F1"/>
          </a:solidFill>
          <a:ln w="25400"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rc 12"/>
          <p:cNvSpPr/>
          <p:nvPr/>
        </p:nvSpPr>
        <p:spPr>
          <a:xfrm>
            <a:off x="10208361" y="1125626"/>
            <a:ext cx="311810" cy="354330"/>
          </a:xfrm>
          <a:prstGeom prst="arc">
            <a:avLst/>
          </a:prstGeom>
          <a:solidFill>
            <a:srgbClr val="FAF7F1"/>
          </a:solidFill>
          <a:ln w="25400"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3703320"/>
            <a:ext cx="310896" cy="310896"/>
          </a:xfrm>
          <a:prstGeom prst="ellipse">
            <a:avLst/>
          </a:prstGeom>
          <a:solidFill>
            <a:srgbClr val="159E7E"/>
          </a:solidFill>
          <a:ln>
            <a:solidFill>
              <a:srgbClr val="159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758183"/>
            <a:ext cx="31089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685032"/>
            <a:ext cx="23774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Automate reporting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685032"/>
            <a:ext cx="4572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EEAF2"/>
                </a:solidFill>
                <a:latin typeface="Aptos"/>
              </a:rPr>
              <a:t>Refresh Databricks and Excel/Power BI views on a schedule.</a:t>
            </a:r>
          </a:p>
        </p:txBody>
      </p:sp>
      <p:sp>
        <p:nvSpPr>
          <p:cNvPr id="18" name="Oval 17"/>
          <p:cNvSpPr/>
          <p:nvPr/>
        </p:nvSpPr>
        <p:spPr>
          <a:xfrm>
            <a:off x="749808" y="4389120"/>
            <a:ext cx="310896" cy="310896"/>
          </a:xfrm>
          <a:prstGeom prst="ellipse">
            <a:avLst/>
          </a:prstGeom>
          <a:solidFill>
            <a:srgbClr val="197EBE"/>
          </a:solidFill>
          <a:ln>
            <a:solidFill>
              <a:srgbClr val="19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43983"/>
            <a:ext cx="31089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370832"/>
            <a:ext cx="23774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Track every location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370832"/>
            <a:ext cx="4572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EEAF2"/>
                </a:solidFill>
                <a:latin typeface="Aptos"/>
              </a:rPr>
              <a:t>Monitor store × daypart performance and surface gaps early.</a:t>
            </a:r>
          </a:p>
        </p:txBody>
      </p:sp>
      <p:sp>
        <p:nvSpPr>
          <p:cNvPr id="22" name="Oval 21"/>
          <p:cNvSpPr/>
          <p:nvPr/>
        </p:nvSpPr>
        <p:spPr>
          <a:xfrm>
            <a:off x="749808" y="5074920"/>
            <a:ext cx="310896" cy="310896"/>
          </a:xfrm>
          <a:prstGeom prst="ellipse">
            <a:avLst/>
          </a:prstGeom>
          <a:solidFill>
            <a:srgbClr val="EF9123"/>
          </a:solidFill>
          <a:ln>
            <a:solidFill>
              <a:srgbClr val="EF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5129783"/>
            <a:ext cx="31089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056632"/>
            <a:ext cx="23774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Build loyalty around peaks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5056632"/>
            <a:ext cx="4572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EEAF2"/>
                </a:solidFill>
                <a:latin typeface="Aptos"/>
              </a:rPr>
              <a:t>Use the 09:00–11:59 rush to encourage repeat visits.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4800600"/>
            <a:ext cx="21945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F2B84B"/>
                </a:solidFill>
                <a:latin typeface="Aptos"/>
              </a:rPr>
              <a:t>Thank you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309360"/>
            <a:ext cx="7772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CFDDE7"/>
                </a:solidFill>
                <a:latin typeface="Aptos"/>
              </a:rPr>
              <a:t>BRIGHT COFFEE SHOP  •  BRIGHTLEARN CASE STUDY  •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 Coffee Shop Sales Performance Analysis</dc:title>
  <dc:subject>Executive sales analysis and revenue improvement plan</dc:subject>
  <dc:creator>Junior Data Analyst</dc:creator>
  <cp:keywords>BrightLearn, coffee shop, sales analytics, revenue, executive dashboard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